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1" r:id="rId6"/>
    <p:sldId id="272" r:id="rId7"/>
    <p:sldId id="283" r:id="rId8"/>
    <p:sldId id="273" r:id="rId9"/>
    <p:sldId id="275" r:id="rId10"/>
    <p:sldId id="274" r:id="rId11"/>
    <p:sldId id="276" r:id="rId12"/>
    <p:sldId id="277" r:id="rId13"/>
    <p:sldId id="278" r:id="rId14"/>
    <p:sldId id="279" r:id="rId15"/>
    <p:sldId id="280" r:id="rId16"/>
    <p:sldId id="282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9C9"/>
    <a:srgbClr val="FFCF89"/>
    <a:srgbClr val="FF9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67463" autoAdjust="0"/>
  </p:normalViewPr>
  <p:slideViewPr>
    <p:cSldViewPr snapToGrid="0">
      <p:cViewPr varScale="1">
        <p:scale>
          <a:sx n="72" d="100"/>
          <a:sy n="72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2889B-A0AC-4482-8592-5C96F230942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29299-61FF-4B93-ADA6-2FD5975D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EB223-FFC0-462A-A3B8-EAA7CE0F8CBD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49E9A-41F7-4779-A581-48A7C374A2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27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9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8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0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F21A4-E71B-4D3A-AF45-E989C23A7BB1}" type="datetimeFigureOut">
              <a:rPr lang="en-US" smtClean="0"/>
              <a:t>3/15/2021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0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v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htrambadiya.github.io/sgp-6/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ws.amazon.com/cloudwatch/" TargetMode="External"/><Relationship Id="rId3" Type="http://schemas.openxmlformats.org/officeDocument/2006/relationships/image" Target="../media/image38.svg"/><Relationship Id="rId7" Type="http://schemas.openxmlformats.org/officeDocument/2006/relationships/hyperlink" Target="https://docs.aws.amazon.com/iam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aws.amazon.com/lambda/" TargetMode="External"/><Relationship Id="rId5" Type="http://schemas.openxmlformats.org/officeDocument/2006/relationships/hyperlink" Target="https://docs.aws.amazon.com/s3/" TargetMode="External"/><Relationship Id="rId10" Type="http://schemas.openxmlformats.org/officeDocument/2006/relationships/hyperlink" Target="https://docs.aws.amazon.com/AWSJavaScriptSDK/latest/" TargetMode="External"/><Relationship Id="rId4" Type="http://schemas.openxmlformats.org/officeDocument/2006/relationships/hyperlink" Target="https://docs.aws.amazon.com/cognito/" TargetMode="External"/><Relationship Id="rId9" Type="http://schemas.openxmlformats.org/officeDocument/2006/relationships/hyperlink" Target="https://docs.aws.amazon.com/transcribe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5" y="4522155"/>
            <a:ext cx="5609222" cy="2007955"/>
          </a:xfrm>
        </p:spPr>
        <p:txBody>
          <a:bodyPr anchor="t">
            <a:normAutofit/>
          </a:bodyPr>
          <a:lstStyle/>
          <a:p>
            <a:pPr algn="l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   Guided by 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: Sagar Patel 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Prepared by 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Harshil Sharaf 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(18ce121)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	            Parth Trambadiya (18ce130)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	            Yash Vaghani (18ce132)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                        Prince Viradiya (18ce134)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br>
              <a:rPr lang="en-US" sz="1600" dirty="0">
                <a:latin typeface="Franklin Gothic Book" panose="020B0503020102020204" pitchFamily="34" charset="0"/>
                <a:cs typeface="Segoe UI" panose="020B0502040204020203" pitchFamily="34" charset="0"/>
              </a:rPr>
            </a:br>
            <a:endParaRPr lang="en-US" sz="1600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3945418"/>
            <a:ext cx="5609219" cy="576738"/>
          </a:xfrm>
        </p:spPr>
        <p:txBody>
          <a:bodyPr anchor="b">
            <a:noAutofit/>
          </a:bodyPr>
          <a:lstStyle/>
          <a:p>
            <a:pPr algn="l"/>
            <a:r>
              <a:rPr lang="en-US" sz="4400" dirty="0">
                <a:latin typeface="Poppins Black" panose="00000A00000000000000" pitchFamily="2" charset="0"/>
                <a:cs typeface="Poppins Black" panose="00000A00000000000000" pitchFamily="2" charset="0"/>
              </a:rPr>
              <a:t>TransVoice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BA87361-6D30-46E4-834B-719CF5905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2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89DB1C0-FEEC-4CB6-88B2-F9C5562E0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Voice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85250" y="164573"/>
            <a:ext cx="1636279" cy="1636279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117" y="615908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163D1C-ED91-4D5F-A33B-CF1256B2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709" y="780500"/>
            <a:ext cx="2852928" cy="28529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phic 4" descr="Documen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80302" y="1293093"/>
            <a:ext cx="1827742" cy="1827742"/>
          </a:xfrm>
          <a:prstGeom prst="rect">
            <a:avLst/>
          </a:prstGeom>
        </p:spPr>
      </p:pic>
      <p:pic>
        <p:nvPicPr>
          <p:cNvPr id="7" name="Graphic 6" descr="Radio microphone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30924" y="3621724"/>
            <a:ext cx="2594886" cy="2594886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1103AB2-C090-458F-B752-294F23AF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1"/>
            <a:ext cx="3439432" cy="3785157"/>
          </a:xfrm>
          <a:custGeom>
            <a:avLst/>
            <a:gdLst>
              <a:gd name="connsiteX0" fmla="*/ 198262 w 3439432"/>
              <a:gd name="connsiteY0" fmla="*/ 0 h 3785157"/>
              <a:gd name="connsiteX1" fmla="*/ 3439432 w 3439432"/>
              <a:gd name="connsiteY1" fmla="*/ 0 h 3785157"/>
              <a:gd name="connsiteX2" fmla="*/ 3439432 w 3439432"/>
              <a:gd name="connsiteY2" fmla="*/ 3697836 h 3785157"/>
              <a:gd name="connsiteX3" fmla="*/ 3318024 w 3439432"/>
              <a:gd name="connsiteY3" fmla="*/ 3729054 h 3785157"/>
              <a:gd name="connsiteX4" fmla="*/ 2761488 w 3439432"/>
              <a:gd name="connsiteY4" fmla="*/ 3785157 h 3785157"/>
              <a:gd name="connsiteX5" fmla="*/ 0 w 3439432"/>
              <a:gd name="connsiteY5" fmla="*/ 1023669 h 3785157"/>
              <a:gd name="connsiteX6" fmla="*/ 124151 w 3439432"/>
              <a:gd name="connsiteY6" fmla="*/ 202487 h 37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785157">
                <a:moveTo>
                  <a:pt x="198262" y="0"/>
                </a:moveTo>
                <a:lnTo>
                  <a:pt x="3439432" y="0"/>
                </a:lnTo>
                <a:lnTo>
                  <a:pt x="3439432" y="3697836"/>
                </a:lnTo>
                <a:lnTo>
                  <a:pt x="3318024" y="3729054"/>
                </a:lnTo>
                <a:cubicBezTo>
                  <a:pt x="3138258" y="3765839"/>
                  <a:pt x="2952129" y="3785157"/>
                  <a:pt x="2761488" y="3785157"/>
                </a:cubicBezTo>
                <a:cubicBezTo>
                  <a:pt x="1236360" y="3785157"/>
                  <a:pt x="0" y="2548797"/>
                  <a:pt x="0" y="1023669"/>
                </a:cubicBezTo>
                <a:cubicBezTo>
                  <a:pt x="0" y="737708"/>
                  <a:pt x="43466" y="461898"/>
                  <a:pt x="124151" y="20248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3D471F3-782A-4BA1-9CAB-FF5CDF0A7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2"/>
            <a:ext cx="3273238" cy="3618965"/>
          </a:xfrm>
          <a:custGeom>
            <a:avLst/>
            <a:gdLst>
              <a:gd name="connsiteX0" fmla="*/ 210437 w 3273238"/>
              <a:gd name="connsiteY0" fmla="*/ 0 h 3618965"/>
              <a:gd name="connsiteX1" fmla="*/ 3273238 w 3273238"/>
              <a:gd name="connsiteY1" fmla="*/ 0 h 3618965"/>
              <a:gd name="connsiteX2" fmla="*/ 3273238 w 3273238"/>
              <a:gd name="connsiteY2" fmla="*/ 3526409 h 3618965"/>
              <a:gd name="connsiteX3" fmla="*/ 3118338 w 3273238"/>
              <a:gd name="connsiteY3" fmla="*/ 3566238 h 3618965"/>
              <a:gd name="connsiteX4" fmla="*/ 2595295 w 3273238"/>
              <a:gd name="connsiteY4" fmla="*/ 3618965 h 3618965"/>
              <a:gd name="connsiteX5" fmla="*/ 0 w 3273238"/>
              <a:gd name="connsiteY5" fmla="*/ 1023670 h 3618965"/>
              <a:gd name="connsiteX6" fmla="*/ 203951 w 3273238"/>
              <a:gd name="connsiteY6" fmla="*/ 13464 h 361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618965">
                <a:moveTo>
                  <a:pt x="210437" y="0"/>
                </a:moveTo>
                <a:lnTo>
                  <a:pt x="3273238" y="0"/>
                </a:lnTo>
                <a:lnTo>
                  <a:pt x="3273238" y="3526409"/>
                </a:lnTo>
                <a:lnTo>
                  <a:pt x="3118338" y="3566238"/>
                </a:lnTo>
                <a:cubicBezTo>
                  <a:pt x="2949390" y="3600810"/>
                  <a:pt x="2774463" y="3618965"/>
                  <a:pt x="2595295" y="3618965"/>
                </a:cubicBezTo>
                <a:cubicBezTo>
                  <a:pt x="1161953" y="3618965"/>
                  <a:pt x="0" y="2457012"/>
                  <a:pt x="0" y="1023670"/>
                </a:cubicBezTo>
                <a:cubicBezTo>
                  <a:pt x="0" y="665335"/>
                  <a:pt x="72622" y="323961"/>
                  <a:pt x="203951" y="1346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Cloud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725024" y="327889"/>
            <a:ext cx="2260711" cy="22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8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F20A-9BF0-4D96-A6DF-CB0DF4DB4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3345"/>
          </a:xfrm>
        </p:spPr>
        <p:txBody>
          <a:bodyPr/>
          <a:lstStyle/>
          <a:p>
            <a:r>
              <a:rPr lang="en-US" dirty="0">
                <a:latin typeface="Poppins Black" panose="00000A00000000000000" pitchFamily="2" charset="0"/>
                <a:cs typeface="Poppins Black" panose="00000A00000000000000" pitchFamily="2" charset="0"/>
              </a:rPr>
              <a:t>Contents</a:t>
            </a:r>
            <a:endParaRPr lang="en-IN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pic>
        <p:nvPicPr>
          <p:cNvPr id="5" name="Graphic 4" descr="List">
            <a:extLst>
              <a:ext uri="{FF2B5EF4-FFF2-40B4-BE49-F238E27FC236}">
                <a16:creationId xmlns:a16="http://schemas.microsoft.com/office/drawing/2014/main" id="{E12E7460-9FB0-44CE-91D4-420ED93D8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292" y="523081"/>
            <a:ext cx="5811838" cy="58118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48B04-F860-45E4-8034-DEE3D04AE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470"/>
            <a:ext cx="10515600" cy="4838493"/>
          </a:xfrm>
        </p:spPr>
        <p:txBody>
          <a:bodyPr>
            <a:normAutofit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Project Definition</a:t>
            </a: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Project Description</a:t>
            </a: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Similar Application</a:t>
            </a: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Motivation</a:t>
            </a:r>
          </a:p>
          <a:p>
            <a:r>
              <a:rPr lang="en-IN">
                <a:latin typeface="Poppins" panose="00000500000000000000" pitchFamily="2" charset="0"/>
                <a:cs typeface="Poppins" panose="00000500000000000000" pitchFamily="2" charset="0"/>
              </a:rPr>
              <a:t>Major Features/Functionalities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Development Environment</a:t>
            </a:r>
          </a:p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System Architecture</a:t>
            </a:r>
          </a:p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Live Demo</a:t>
            </a:r>
          </a:p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0981489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040FD-BEBA-4EDD-BD18-40A388FAE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 Black" panose="00000A00000000000000" pitchFamily="2" charset="0"/>
                <a:cs typeface="Poppins Black" panose="00000A00000000000000" pitchFamily="2" charset="0"/>
              </a:rPr>
              <a:t>Project Definition &amp; Description</a:t>
            </a:r>
            <a:endParaRPr lang="en-IN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pic>
        <p:nvPicPr>
          <p:cNvPr id="5" name="Graphic 4" descr="Voice">
            <a:extLst>
              <a:ext uri="{FF2B5EF4-FFF2-40B4-BE49-F238E27FC236}">
                <a16:creationId xmlns:a16="http://schemas.microsoft.com/office/drawing/2014/main" id="{E6B326A7-095D-4402-9414-25B5782D4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0556" y="2185919"/>
            <a:ext cx="5592417" cy="559241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8C9D5-E8F2-4A63-91BB-46226015C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Web application for transcribe multi-speaker audio file on AWS</a:t>
            </a:r>
          </a:p>
          <a:p>
            <a:r>
              <a:rPr lang="en-US" sz="20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The TransVoice is a web-application to be used by companies to transcript the audio file into dialogue form to store the important data for future use and records. </a:t>
            </a:r>
          </a:p>
          <a:p>
            <a:r>
              <a:rPr lang="en-US" sz="20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Also, for transcribers this web-based application will be very useful because with this app they easily transcript the audio file into dialogue form and also they can edit that transcript. </a:t>
            </a:r>
          </a:p>
          <a:p>
            <a:r>
              <a:rPr lang="en-US" sz="20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Features of download and sharing of transcript will be available in this web-application. </a:t>
            </a:r>
          </a:p>
          <a:p>
            <a:r>
              <a:rPr lang="en-US" sz="20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One important point is there will be no restriction in size of audio file that means user can convert any size of audio file to transcript. </a:t>
            </a:r>
            <a:endParaRPr lang="en-IN" sz="20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53779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896F4-DACD-46DA-AB2A-E2A6A5D7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3345"/>
          </a:xfrm>
        </p:spPr>
        <p:txBody>
          <a:bodyPr/>
          <a:lstStyle/>
          <a:p>
            <a:r>
              <a:rPr lang="en-US" dirty="0">
                <a:latin typeface="Poppins Black" panose="00000A00000000000000" pitchFamily="2" charset="0"/>
                <a:cs typeface="Poppins Black" panose="00000A00000000000000" pitchFamily="2" charset="0"/>
              </a:rPr>
              <a:t>Similar Application</a:t>
            </a:r>
            <a:endParaRPr lang="en-IN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FBB4-6F7A-4412-B6D9-2421E9003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470"/>
            <a:ext cx="10515600" cy="5154405"/>
          </a:xfrm>
        </p:spPr>
        <p:txBody>
          <a:bodyPr>
            <a:normAutofit/>
          </a:bodyPr>
          <a:lstStyle/>
          <a:p>
            <a:r>
              <a:rPr lang="en-US" sz="20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We have taken reference of transcript based software present on online platform called “Rev”.</a:t>
            </a:r>
          </a:p>
          <a:p>
            <a:r>
              <a:rPr lang="en-IN" sz="20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  <a:hlinkClick r:id="rId2"/>
              </a:rPr>
              <a:t>https://www.rev.com/</a:t>
            </a:r>
            <a:endParaRPr lang="en-IN" sz="20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endParaRPr lang="en-IN" sz="20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1C31AC1-29C3-473A-A670-C623AC692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491527"/>
              </p:ext>
            </p:extLst>
          </p:nvPr>
        </p:nvGraphicFramePr>
        <p:xfrm>
          <a:off x="1192697" y="2650372"/>
          <a:ext cx="9806607" cy="35092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8869">
                  <a:extLst>
                    <a:ext uri="{9D8B030D-6E8A-4147-A177-3AD203B41FA5}">
                      <a16:colId xmlns:a16="http://schemas.microsoft.com/office/drawing/2014/main" val="1086378466"/>
                    </a:ext>
                  </a:extLst>
                </a:gridCol>
                <a:gridCol w="3268869">
                  <a:extLst>
                    <a:ext uri="{9D8B030D-6E8A-4147-A177-3AD203B41FA5}">
                      <a16:colId xmlns:a16="http://schemas.microsoft.com/office/drawing/2014/main" val="1752431566"/>
                    </a:ext>
                  </a:extLst>
                </a:gridCol>
                <a:gridCol w="3268869">
                  <a:extLst>
                    <a:ext uri="{9D8B030D-6E8A-4147-A177-3AD203B41FA5}">
                      <a16:colId xmlns:a16="http://schemas.microsoft.com/office/drawing/2014/main" val="1909522540"/>
                    </a:ext>
                  </a:extLst>
                </a:gridCol>
              </a:tblGrid>
              <a:tr h="88795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Parameter</a:t>
                      </a:r>
                      <a:endParaRPr lang="en-IN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TransVoice</a:t>
                      </a:r>
                      <a:endParaRPr lang="en-IN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Rev</a:t>
                      </a:r>
                      <a:endParaRPr lang="en-IN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1703490"/>
                  </a:ext>
                </a:extLst>
              </a:tr>
              <a:tr h="113970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Cost</a:t>
                      </a:r>
                      <a:endParaRPr lang="en-IN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It will be available totally free of cost.</a:t>
                      </a:r>
                      <a:endParaRPr lang="en-IN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It charges approximately $1.25 per minute for audio transcription.</a:t>
                      </a:r>
                      <a:endParaRPr lang="en-IN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5089127"/>
                  </a:ext>
                </a:extLst>
              </a:tr>
              <a:tr h="113970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Size</a:t>
                      </a:r>
                      <a:endParaRPr lang="en-IN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There will be no restriction for the size of audio file which user wants to transcript.</a:t>
                      </a:r>
                      <a:endParaRPr lang="en-IN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It gives restriction for the size of audio file up to 20mb only.</a:t>
                      </a:r>
                      <a:endParaRPr lang="en-IN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8486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98336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E513-A3E6-4D77-8F75-DE3C5828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 Black" panose="00000A00000000000000" pitchFamily="2" charset="0"/>
                <a:cs typeface="Poppins Black" panose="00000A00000000000000" pitchFamily="2" charset="0"/>
              </a:rPr>
              <a:t>Motivation</a:t>
            </a:r>
            <a:endParaRPr lang="en-IN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5E34E-7BC1-4BBC-B7F7-8A3D06758D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Video and audio recordings are all well and good, but a text version of your meeting can be a lot easier to search if you’re looking for that one specific bit of data inside of an hour’s worth of conversation.</a:t>
            </a:r>
          </a:p>
          <a:p>
            <a:pPr algn="just"/>
            <a:r>
              <a:rPr lang="en-US" sz="24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So, TransVoice can be very handy if you have trouble typing or just find speaking faster or easier than typing</a:t>
            </a:r>
            <a:endParaRPr lang="en-IN" sz="2400" dirty="0">
              <a:solidFill>
                <a:srgbClr val="000000"/>
              </a:solidFill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4732C69-8F79-49A3-B57C-80744B6D34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79909"/>
            <a:ext cx="5181600" cy="3642769"/>
          </a:xfrm>
        </p:spPr>
      </p:pic>
    </p:spTree>
    <p:extLst>
      <p:ext uri="{BB962C8B-B14F-4D97-AF65-F5344CB8AC3E}">
        <p14:creationId xmlns:p14="http://schemas.microsoft.com/office/powerpoint/2010/main" val="391656616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9FA1-1A65-4CB9-95F6-D425C116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6110"/>
          </a:xfrm>
        </p:spPr>
        <p:txBody>
          <a:bodyPr/>
          <a:lstStyle/>
          <a:p>
            <a:r>
              <a:rPr lang="en-IN" dirty="0">
                <a:latin typeface="Poppins Black" panose="00000A00000000000000" pitchFamily="2" charset="0"/>
                <a:cs typeface="Poppins Black" panose="00000A00000000000000" pitchFamily="2" charset="0"/>
              </a:rPr>
              <a:t>Major Features/Functionalities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2D698-B523-43B2-B2E6-7C73AE8FA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6"/>
            <a:ext cx="10515600" cy="4745727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ts val="12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endParaRPr lang="en-US" sz="20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marL="342900" lvl="0" indent="-342900" algn="just">
              <a:lnSpc>
                <a:spcPts val="12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Architecture we designed for TransVoice is totally Serverless.</a:t>
            </a:r>
            <a:endParaRPr lang="en-US" sz="18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marL="342900" lvl="0" indent="-342900" algn="just">
              <a:lnSpc>
                <a:spcPts val="12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Login/Signup for user (using Google or Amazon account).</a:t>
            </a:r>
          </a:p>
          <a:p>
            <a:pPr marL="342900" indent="-342900" algn="just">
              <a:lnSpc>
                <a:spcPts val="12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Audio file uploading feature without any restriction of size of audio file (which you want </a:t>
            </a:r>
          </a:p>
          <a:p>
            <a:pPr marL="0" indent="0" algn="just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8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     to transcript).</a:t>
            </a:r>
          </a:p>
          <a:p>
            <a:pPr marL="342900" lvl="0" indent="-342900" algn="just">
              <a:lnSpc>
                <a:spcPts val="12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Audio to text transcription with bifurcation of individual speaker’s dialogues.</a:t>
            </a:r>
            <a:endParaRPr lang="en-IN" sz="18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marL="342900" lvl="0" indent="-342900" algn="just">
              <a:lnSpc>
                <a:spcPts val="12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Feature to edit the transcript is provided for future purpose.</a:t>
            </a:r>
            <a:endParaRPr lang="en-IN" sz="18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marL="342900" lvl="0" indent="-342900" algn="just">
              <a:lnSpc>
                <a:spcPts val="12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Transcript downloading and sharing options are provided.</a:t>
            </a:r>
          </a:p>
          <a:p>
            <a:pPr marL="342900" lvl="0" indent="-342900" algn="just">
              <a:lnSpc>
                <a:spcPts val="12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Live audio recording.</a:t>
            </a:r>
            <a:endParaRPr lang="en-IN" sz="18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marL="0" lvl="0" indent="0" algn="just">
              <a:lnSpc>
                <a:spcPts val="1200"/>
              </a:lnSpc>
              <a:spcAft>
                <a:spcPts val="600"/>
              </a:spcAft>
              <a:buNone/>
            </a:pPr>
            <a:endParaRPr lang="en-IN" sz="2000" dirty="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</p:txBody>
      </p:sp>
      <p:pic>
        <p:nvPicPr>
          <p:cNvPr id="19" name="Graphic 18" descr="Podcast">
            <a:extLst>
              <a:ext uri="{FF2B5EF4-FFF2-40B4-BE49-F238E27FC236}">
                <a16:creationId xmlns:a16="http://schemas.microsoft.com/office/drawing/2014/main" id="{9A07572C-B97C-413F-A8D6-D536A791A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992" y="4615070"/>
            <a:ext cx="2242930" cy="2242930"/>
          </a:xfrm>
          <a:prstGeom prst="rect">
            <a:avLst/>
          </a:prstGeom>
        </p:spPr>
      </p:pic>
      <p:pic>
        <p:nvPicPr>
          <p:cNvPr id="21" name="Graphic 20" descr="Download">
            <a:extLst>
              <a:ext uri="{FF2B5EF4-FFF2-40B4-BE49-F238E27FC236}">
                <a16:creationId xmlns:a16="http://schemas.microsoft.com/office/drawing/2014/main" id="{FF7B371D-D732-442C-ABFA-5D6C4A8A0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1208" y="4615070"/>
            <a:ext cx="2242800" cy="22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82702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665B-7882-421D-BAB6-B239630C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 Black" panose="00000A00000000000000" pitchFamily="2" charset="0"/>
                <a:cs typeface="Poppins Black" panose="00000A00000000000000" pitchFamily="2" charset="0"/>
              </a:rPr>
              <a:t>Development Environment</a:t>
            </a:r>
            <a:endParaRPr lang="en-IN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30E36-DAD6-47D4-9F9D-0F37FED9FF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Web Front-End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Web Hosting</a:t>
            </a:r>
          </a:p>
          <a:p>
            <a:pPr marL="0" indent="0">
              <a:buNone/>
            </a:pP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1DD18E5E-95A1-4650-BB18-7D48F6741E7B}"/>
              </a:ext>
            </a:extLst>
          </p:cNvPr>
          <p:cNvSpPr/>
          <p:nvPr/>
        </p:nvSpPr>
        <p:spPr>
          <a:xfrm>
            <a:off x="1003141" y="2196546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4B324B7-05C0-4B4E-AC02-DA8C17C47E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082" y="2343266"/>
            <a:ext cx="740230" cy="740230"/>
          </a:xfrm>
        </p:spPr>
      </p:pic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6E61C265-1051-4F87-8273-7E56CA5C81CE}"/>
              </a:ext>
            </a:extLst>
          </p:cNvPr>
          <p:cNvSpPr/>
          <p:nvPr/>
        </p:nvSpPr>
        <p:spPr>
          <a:xfrm flipV="1">
            <a:off x="2238195" y="2196545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FDAD45-295B-469A-A1C6-5AA61C7F4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070" y="2343266"/>
            <a:ext cx="741600" cy="741600"/>
          </a:xfrm>
          <a:prstGeom prst="rect">
            <a:avLst/>
          </a:prstGeom>
        </p:spPr>
      </p:pic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1FD831AD-474E-498F-9BEC-0786921701E8}"/>
              </a:ext>
            </a:extLst>
          </p:cNvPr>
          <p:cNvSpPr/>
          <p:nvPr/>
        </p:nvSpPr>
        <p:spPr>
          <a:xfrm>
            <a:off x="3473249" y="2196545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6FA6F3-9467-4573-A2EB-8E57ED491B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066" y="2341896"/>
            <a:ext cx="898909" cy="741600"/>
          </a:xfrm>
          <a:prstGeom prst="rect">
            <a:avLst/>
          </a:prstGeom>
        </p:spPr>
      </p:pic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4BA19CA3-80F8-47F6-A389-641A72EB6E29}"/>
              </a:ext>
            </a:extLst>
          </p:cNvPr>
          <p:cNvSpPr/>
          <p:nvPr/>
        </p:nvSpPr>
        <p:spPr>
          <a:xfrm flipH="1">
            <a:off x="4708303" y="2195860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08A838-BA66-4C89-91EB-7B0DBEB305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559" y="2341896"/>
            <a:ext cx="741600" cy="741600"/>
          </a:xfrm>
          <a:prstGeom prst="rect">
            <a:avLst/>
          </a:prstGeom>
        </p:spPr>
      </p:pic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A50EA28C-ACA8-4D1D-BD00-8099E79DB296}"/>
              </a:ext>
            </a:extLst>
          </p:cNvPr>
          <p:cNvSpPr/>
          <p:nvPr/>
        </p:nvSpPr>
        <p:spPr>
          <a:xfrm>
            <a:off x="1003141" y="3806686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9DAD709-692E-48C6-B0BD-7D3EAD59D8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082" y="3952721"/>
            <a:ext cx="741600" cy="741600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7C921A9-DD16-4850-B495-03F933820525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Poppins" panose="00000500000000000000" pitchFamily="2" charset="0"/>
                <a:cs typeface="Poppins" panose="00000500000000000000" pitchFamily="2" charset="0"/>
              </a:rPr>
              <a:t>Back-End</a:t>
            </a:r>
          </a:p>
          <a:p>
            <a:pPr marL="0" indent="0">
              <a:buNone/>
            </a:pP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AWS Services</a:t>
            </a:r>
          </a:p>
          <a:p>
            <a:pPr marL="0" indent="0">
              <a:buNone/>
            </a:pP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169E3D02-3265-4937-B4DC-410570524B5A}"/>
              </a:ext>
            </a:extLst>
          </p:cNvPr>
          <p:cNvSpPr/>
          <p:nvPr/>
        </p:nvSpPr>
        <p:spPr>
          <a:xfrm>
            <a:off x="6387903" y="2195860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C30249D-40C4-4FEA-8139-01EC8A738E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141" y="2432529"/>
            <a:ext cx="867636" cy="560331"/>
          </a:xfrm>
          <a:prstGeom prst="rect">
            <a:avLst/>
          </a:prstGeom>
        </p:spPr>
      </p:pic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BBC5A982-2DDA-4664-BF83-C8804E36561A}"/>
              </a:ext>
            </a:extLst>
          </p:cNvPr>
          <p:cNvSpPr/>
          <p:nvPr/>
        </p:nvSpPr>
        <p:spPr>
          <a:xfrm flipH="1">
            <a:off x="7610416" y="2195858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B62D65B-D8AD-4964-B7C7-C65C263CEB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672" y="2341896"/>
            <a:ext cx="741600" cy="741600"/>
          </a:xfrm>
          <a:prstGeom prst="rect">
            <a:avLst/>
          </a:prstGeom>
        </p:spPr>
      </p:pic>
      <p:sp>
        <p:nvSpPr>
          <p:cNvPr id="30" name="Rectangle: Diagonal Corners Rounded 29">
            <a:extLst>
              <a:ext uri="{FF2B5EF4-FFF2-40B4-BE49-F238E27FC236}">
                <a16:creationId xmlns:a16="http://schemas.microsoft.com/office/drawing/2014/main" id="{09A2D2C4-58EA-4E00-8101-C63B85BFC326}"/>
              </a:ext>
            </a:extLst>
          </p:cNvPr>
          <p:cNvSpPr/>
          <p:nvPr/>
        </p:nvSpPr>
        <p:spPr>
          <a:xfrm>
            <a:off x="6387902" y="3806685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280DAF2-64DB-4207-B7E0-BE2FB71CA6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958" y="3937329"/>
            <a:ext cx="762000" cy="762000"/>
          </a:xfrm>
          <a:prstGeom prst="rect">
            <a:avLst/>
          </a:prstGeom>
        </p:spPr>
      </p:pic>
      <p:sp>
        <p:nvSpPr>
          <p:cNvPr id="33" name="Rectangle: Diagonal Corners Rounded 32">
            <a:extLst>
              <a:ext uri="{FF2B5EF4-FFF2-40B4-BE49-F238E27FC236}">
                <a16:creationId xmlns:a16="http://schemas.microsoft.com/office/drawing/2014/main" id="{EEB403FC-E88D-4D8A-8BCE-ED83BCB56903}"/>
              </a:ext>
            </a:extLst>
          </p:cNvPr>
          <p:cNvSpPr/>
          <p:nvPr/>
        </p:nvSpPr>
        <p:spPr>
          <a:xfrm flipH="1">
            <a:off x="7610415" y="3801493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BF2DF30-2BC7-49F5-9CF0-01C02E52AD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524" y="3937328"/>
            <a:ext cx="762000" cy="762000"/>
          </a:xfrm>
          <a:prstGeom prst="rect">
            <a:avLst/>
          </a:prstGeom>
        </p:spPr>
      </p:pic>
      <p:sp>
        <p:nvSpPr>
          <p:cNvPr id="36" name="Rectangle: Diagonal Corners Rounded 35">
            <a:extLst>
              <a:ext uri="{FF2B5EF4-FFF2-40B4-BE49-F238E27FC236}">
                <a16:creationId xmlns:a16="http://schemas.microsoft.com/office/drawing/2014/main" id="{E7865EE8-94F7-4593-B7E1-0DC1FAACDD52}"/>
              </a:ext>
            </a:extLst>
          </p:cNvPr>
          <p:cNvSpPr/>
          <p:nvPr/>
        </p:nvSpPr>
        <p:spPr>
          <a:xfrm>
            <a:off x="8832928" y="3801493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4AA15E1-DC44-43DE-B9D1-2EAD2EBD74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384" y="3936728"/>
            <a:ext cx="763200" cy="763200"/>
          </a:xfrm>
          <a:prstGeom prst="rect">
            <a:avLst/>
          </a:prstGeom>
        </p:spPr>
      </p:pic>
      <p:sp>
        <p:nvSpPr>
          <p:cNvPr id="39" name="Rectangle: Diagonal Corners Rounded 38">
            <a:extLst>
              <a:ext uri="{FF2B5EF4-FFF2-40B4-BE49-F238E27FC236}">
                <a16:creationId xmlns:a16="http://schemas.microsoft.com/office/drawing/2014/main" id="{C1F6BBB9-98D9-4357-95E5-C9F3301C378B}"/>
              </a:ext>
            </a:extLst>
          </p:cNvPr>
          <p:cNvSpPr/>
          <p:nvPr/>
        </p:nvSpPr>
        <p:spPr>
          <a:xfrm flipH="1">
            <a:off x="10074310" y="3801492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8160047-5237-49A9-BBFF-602C75D03E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366" y="3932321"/>
            <a:ext cx="762000" cy="762000"/>
          </a:xfrm>
          <a:prstGeom prst="rect">
            <a:avLst/>
          </a:prstGeom>
        </p:spPr>
      </p:pic>
      <p:sp>
        <p:nvSpPr>
          <p:cNvPr id="42" name="Rectangle: Diagonal Corners Rounded 41">
            <a:extLst>
              <a:ext uri="{FF2B5EF4-FFF2-40B4-BE49-F238E27FC236}">
                <a16:creationId xmlns:a16="http://schemas.microsoft.com/office/drawing/2014/main" id="{B5D4D064-1507-491C-9DD7-AFDF167F12EA}"/>
              </a:ext>
            </a:extLst>
          </p:cNvPr>
          <p:cNvSpPr/>
          <p:nvPr/>
        </p:nvSpPr>
        <p:spPr>
          <a:xfrm flipV="1">
            <a:off x="6389215" y="4991824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67BB546-2870-4935-91D0-94A156F29A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758" y="5127059"/>
            <a:ext cx="763200" cy="763200"/>
          </a:xfrm>
          <a:prstGeom prst="rect">
            <a:avLst/>
          </a:prstGeom>
        </p:spPr>
      </p:pic>
      <p:sp>
        <p:nvSpPr>
          <p:cNvPr id="45" name="Rectangle: Diagonal Corners Rounded 44">
            <a:extLst>
              <a:ext uri="{FF2B5EF4-FFF2-40B4-BE49-F238E27FC236}">
                <a16:creationId xmlns:a16="http://schemas.microsoft.com/office/drawing/2014/main" id="{B3B50432-28B6-47CE-A0E5-6C3B2D5C1B84}"/>
              </a:ext>
            </a:extLst>
          </p:cNvPr>
          <p:cNvSpPr/>
          <p:nvPr/>
        </p:nvSpPr>
        <p:spPr>
          <a:xfrm>
            <a:off x="7610414" y="4991824"/>
            <a:ext cx="1070113" cy="103367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CEBAC7C-1949-47FB-8923-A69F9F827A6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526" y="5128259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8903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5BD8-3C99-4AFD-A918-3FC00C06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 Black" panose="00000A00000000000000" pitchFamily="2" charset="0"/>
                <a:cs typeface="Poppins Black" panose="00000A00000000000000" pitchFamily="2" charset="0"/>
              </a:rPr>
              <a:t>System Architecture</a:t>
            </a:r>
            <a:endParaRPr lang="en-IN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913C03-1054-48B3-AD31-C0C6F0A3E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562" y="1690688"/>
            <a:ext cx="6980876" cy="4851746"/>
          </a:xfrm>
        </p:spPr>
      </p:pic>
    </p:spTree>
    <p:extLst>
      <p:ext uri="{BB962C8B-B14F-4D97-AF65-F5344CB8AC3E}">
        <p14:creationId xmlns:p14="http://schemas.microsoft.com/office/powerpoint/2010/main" val="102619072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3BFC-5C49-4EA1-8BAB-3E42C1D7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 Black" panose="00000A00000000000000" pitchFamily="2" charset="0"/>
                <a:cs typeface="Poppins Black" panose="00000A00000000000000" pitchFamily="2" charset="0"/>
              </a:rPr>
              <a:t>Live Demo</a:t>
            </a:r>
            <a:endParaRPr lang="en-IN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5BB217-A39D-46AA-AF39-2255C574F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5075" y="1987826"/>
            <a:ext cx="9081850" cy="43614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716636-3381-497F-8F35-91274B4EE549}"/>
              </a:ext>
            </a:extLst>
          </p:cNvPr>
          <p:cNvSpPr txBox="1"/>
          <p:nvPr/>
        </p:nvSpPr>
        <p:spPr>
          <a:xfrm>
            <a:off x="3047999" y="1506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Link: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https://parthtrambadiya.github.io/sgp-6/</a:t>
            </a:r>
            <a:endParaRPr 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463067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3A25B-C013-4FD8-A654-E98B0C21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 Black" panose="00000A00000000000000" pitchFamily="2" charset="0"/>
                <a:cs typeface="Poppins Black" panose="00000A00000000000000" pitchFamily="2" charset="0"/>
              </a:rPr>
              <a:t>Live Demo </a:t>
            </a:r>
            <a:endParaRPr lang="en-IN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DFE99E-E385-4153-9508-5C931C932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12373"/>
            <a:ext cx="525780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9F69DD-1AE0-429F-A81D-5A20713CF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2373"/>
            <a:ext cx="52578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89619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DAFD-B0F4-4236-B385-4097D40A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 Black" panose="00000A00000000000000" pitchFamily="2" charset="0"/>
                <a:cs typeface="Poppins Black" panose="00000A00000000000000" pitchFamily="2" charset="0"/>
              </a:rPr>
              <a:t>Live Demo</a:t>
            </a:r>
            <a:endParaRPr lang="en-IN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16AB9F-6979-431F-8632-D4F5350561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632" y="1838877"/>
            <a:ext cx="8954735" cy="4351338"/>
          </a:xfrm>
        </p:spPr>
      </p:pic>
    </p:spTree>
    <p:extLst>
      <p:ext uri="{BB962C8B-B14F-4D97-AF65-F5344CB8AC3E}">
        <p14:creationId xmlns:p14="http://schemas.microsoft.com/office/powerpoint/2010/main" val="2929315359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CD63-EC01-4072-BC65-38A33D3F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 Black" panose="00000A00000000000000" pitchFamily="2" charset="0"/>
                <a:cs typeface="Poppins Black" panose="00000A00000000000000" pitchFamily="2" charset="0"/>
              </a:rPr>
              <a:t>Live Demo</a:t>
            </a:r>
            <a:endParaRPr lang="en-IN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36845A-228C-4B79-AE2B-7C26CC1E3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586" y="1825625"/>
            <a:ext cx="9016828" cy="4351338"/>
          </a:xfrm>
        </p:spPr>
      </p:pic>
    </p:spTree>
    <p:extLst>
      <p:ext uri="{BB962C8B-B14F-4D97-AF65-F5344CB8AC3E}">
        <p14:creationId xmlns:p14="http://schemas.microsoft.com/office/powerpoint/2010/main" val="198146275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4BF66-3C03-4375-AB6D-ED39C399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oppins Black" panose="00000A00000000000000" pitchFamily="2" charset="0"/>
                <a:cs typeface="Poppins Black" panose="00000A00000000000000" pitchFamily="2" charset="0"/>
              </a:rPr>
              <a:t>References</a:t>
            </a:r>
            <a:endParaRPr lang="en-IN" b="1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pic>
        <p:nvPicPr>
          <p:cNvPr id="5" name="Graphic 4" descr="Open book">
            <a:extLst>
              <a:ext uri="{FF2B5EF4-FFF2-40B4-BE49-F238E27FC236}">
                <a16:creationId xmlns:a16="http://schemas.microsoft.com/office/drawing/2014/main" id="{004F33CA-2A78-42FA-B1C5-0CBB15F02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5643" y="2538067"/>
            <a:ext cx="4816890" cy="48168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45973-AA25-4CE2-B4A9-0A6594385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https://docs.aws.amazon.com/cognito/</a:t>
            </a:r>
            <a:endParaRPr lang="en-IN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https://docs.aws.amazon.com/s3/</a:t>
            </a:r>
            <a:endParaRPr lang="en-IN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  <a:hlinkClick r:id="rId6"/>
              </a:rPr>
              <a:t>https://docs.aws.amazon.com/lambda/</a:t>
            </a:r>
            <a:endParaRPr lang="en-IN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  <a:hlinkClick r:id="rId7"/>
              </a:rPr>
              <a:t>https://docs.aws.amazon.com/iam/</a:t>
            </a:r>
            <a:endParaRPr lang="en-IN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  <a:hlinkClick r:id="rId8"/>
              </a:rPr>
              <a:t>https://docs.aws.amazon.com/cloudwatch/</a:t>
            </a:r>
            <a:endParaRPr lang="en-IN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  <a:hlinkClick r:id="rId9"/>
              </a:rPr>
              <a:t>https://docs.aws.amazon.com/transcribe/</a:t>
            </a:r>
            <a:endParaRPr lang="en-IN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  <a:hlinkClick r:id="rId10"/>
              </a:rPr>
              <a:t>https://docs.aws.amazon.com/AWSJavaScriptSDK/latest/</a:t>
            </a:r>
            <a:endParaRPr lang="en-IN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669703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CE44DA-2169-4579-9807-3E24C66DC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89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781794_Research presentation_RVA_v3" id="{DF2794B4-2314-4F87-8639-5DCB9EEE28EE}" vid="{3B969E49-204F-4FF6-BD10-D26195B8D4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C7D9E6-B0D9-433E-BD46-EB60F64F4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CA875DA-F9FD-4F83-A049-3B1027B542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AB02E3-5ADF-4BF0-9C1B-35CDF3FE95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Research presentation</Template>
  <TotalTime>162</TotalTime>
  <Words>518</Words>
  <Application>Microsoft Office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Poppins</vt:lpstr>
      <vt:lpstr>Poppins Black</vt:lpstr>
      <vt:lpstr>Symbol</vt:lpstr>
      <vt:lpstr>Office Theme</vt:lpstr>
      <vt:lpstr>   Guided by : Sagar Patel  Prepared by : Harshil Sharaf (18ce121)              Parth Trambadiya (18ce130)              Yash Vaghani (18ce132)                          Prince Viradiya (18ce134)  </vt:lpstr>
      <vt:lpstr>Contents</vt:lpstr>
      <vt:lpstr>Project Definition &amp; Description</vt:lpstr>
      <vt:lpstr>Similar Application</vt:lpstr>
      <vt:lpstr>Motivation</vt:lpstr>
      <vt:lpstr>Major Features/Functionalities</vt:lpstr>
      <vt:lpstr>Development Environment</vt:lpstr>
      <vt:lpstr>System Architecture</vt:lpstr>
      <vt:lpstr>Live Demo</vt:lpstr>
      <vt:lpstr>Live Demo </vt:lpstr>
      <vt:lpstr>Live Demo</vt:lpstr>
      <vt:lpstr>Live Demo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Guided by: Sagar Patel  Prepared by: Harshil Saraf (18ce121)             Parth Trambadiya (18ce130)             Yash Vaghani (18ce132)                         Prince Viradiya (18ce134)</dc:title>
  <dc:creator>Parth Trambadiya</dc:creator>
  <cp:lastModifiedBy>Parth Trambadiya</cp:lastModifiedBy>
  <cp:revision>26</cp:revision>
  <dcterms:created xsi:type="dcterms:W3CDTF">2021-03-14T09:11:45Z</dcterms:created>
  <dcterms:modified xsi:type="dcterms:W3CDTF">2021-03-15T09:59:12Z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